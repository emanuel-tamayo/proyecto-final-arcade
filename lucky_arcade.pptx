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548640"/>
            <a:ext cx="2560320" cy="3840480"/>
          </a:xfrm>
          <a:prstGeom prst="rect">
            <a:avLst/>
          </a:prstGeom>
          <a:solidFill>
            <a:srgbClr val="1C1C2E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822960"/>
            <a:ext cx="658368" cy="658368"/>
          </a:xfrm>
          <a:prstGeom prst="rect">
            <a:avLst/>
          </a:prstGeom>
          <a:solidFill>
            <a:srgbClr val="1E1E3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822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D57"/>
                </a:solidFill>
              </a:rPr>
              <a:t>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159752" y="822960"/>
            <a:ext cx="658368" cy="658368"/>
          </a:xfrm>
          <a:prstGeom prst="rect">
            <a:avLst/>
          </a:prstGeom>
          <a:solidFill>
            <a:srgbClr val="1E1E3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59752" y="822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18"/>
                </a:solidFill>
              </a:rPr>
              <a:t>$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872984" y="822960"/>
            <a:ext cx="658368" cy="658368"/>
          </a:xfrm>
          <a:prstGeom prst="rect">
            <a:avLst/>
          </a:prstGeom>
          <a:solidFill>
            <a:srgbClr val="1E1E3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72984" y="822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53"/>
                </a:solidFill>
              </a:rPr>
              <a:t>*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46520" y="1536192"/>
            <a:ext cx="658368" cy="658368"/>
          </a:xfrm>
          <a:prstGeom prst="rect">
            <a:avLst/>
          </a:prstGeom>
          <a:solidFill>
            <a:srgbClr val="1E1E3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361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D57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159752" y="1536192"/>
            <a:ext cx="658368" cy="658368"/>
          </a:xfrm>
          <a:prstGeom prst="rect">
            <a:avLst/>
          </a:prstGeom>
          <a:solidFill>
            <a:srgbClr val="1E1E3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9752" y="15361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</a:rPr>
              <a:t>@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72984" y="1536192"/>
            <a:ext cx="658368" cy="658368"/>
          </a:xfrm>
          <a:prstGeom prst="rect">
            <a:avLst/>
          </a:prstGeom>
          <a:solidFill>
            <a:srgbClr val="1E1E3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2984" y="15361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0C0"/>
                </a:solidFill>
              </a:rPr>
              <a:t>#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46520" y="2249424"/>
            <a:ext cx="658368" cy="658368"/>
          </a:xfrm>
          <a:prstGeom prst="rect">
            <a:avLst/>
          </a:prstGeom>
          <a:solidFill>
            <a:srgbClr val="1E1E3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2494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D57"/>
                </a:solidFill>
              </a:rPr>
              <a:t>7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159752" y="2249424"/>
            <a:ext cx="658368" cy="658368"/>
          </a:xfrm>
          <a:prstGeom prst="rect">
            <a:avLst/>
          </a:prstGeom>
          <a:solidFill>
            <a:srgbClr val="1E1E3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22494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18"/>
                </a:solidFill>
              </a:rPr>
              <a:t>$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872984" y="2249424"/>
            <a:ext cx="658368" cy="658368"/>
          </a:xfrm>
          <a:prstGeom prst="rect">
            <a:avLst/>
          </a:prstGeom>
          <a:solidFill>
            <a:srgbClr val="1E1E3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72984" y="22494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53"/>
                </a:solidFill>
              </a:rPr>
              <a:t>*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63640" y="3429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🎰 LUCKY ARCADE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887968" y="1097280"/>
            <a:ext cx="109728" cy="2194560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96528" y="914400"/>
            <a:ext cx="292608" cy="292608"/>
          </a:xfrm>
          <a:prstGeom prst="ellipse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LUCKY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457200" y="17373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ARCADE</a:t>
            </a:r>
            <a:endParaRPr lang="en-US" sz="8000" dirty="0"/>
          </a:p>
        </p:txBody>
      </p:sp>
      <p:sp>
        <p:nvSpPr>
          <p:cNvPr id="27" name="Text 25"/>
          <p:cNvSpPr/>
          <p:nvPr/>
        </p:nvSpPr>
        <p:spPr>
          <a:xfrm>
            <a:off x="45720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Máquina Tragamonedas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1060704" cy="320040"/>
          </a:xfrm>
          <a:prstGeom prst="roundRect">
            <a:avLst>
              <a:gd name="adj" fmla="val 14286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2044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Java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55064" y="3520440"/>
            <a:ext cx="932688" cy="320040"/>
          </a:xfrm>
          <a:prstGeom prst="roundRect">
            <a:avLst>
              <a:gd name="adj" fmla="val 14286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55064" y="352044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CSV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24912" y="3520440"/>
            <a:ext cx="1572768" cy="320040"/>
          </a:xfrm>
          <a:prstGeom prst="roundRect">
            <a:avLst>
              <a:gd name="adj" fmla="val 14286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35204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Matrices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34840" y="3520440"/>
            <a:ext cx="932688" cy="320040"/>
          </a:xfrm>
          <a:prstGeom prst="roundRect">
            <a:avLst>
              <a:gd name="adj" fmla="val 14286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352044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OOP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04688" y="3520440"/>
            <a:ext cx="1700784" cy="320040"/>
          </a:xfrm>
          <a:prstGeom prst="roundRect">
            <a:avLst>
              <a:gd name="adj" fmla="val 14286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04688" y="35204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ASCII Art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</a:rPr>
              <a:t>20% de la nota final  |  Proyecto Integrador  |  Grupos de 2–3 personas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ARQUITECTURA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54480" cy="3291840"/>
          </a:xfrm>
          <a:prstGeom prst="rect">
            <a:avLst/>
          </a:prstGeom>
          <a:solidFill>
            <a:srgbClr val="1C1C2E"/>
          </a:solidFill>
          <a:ln w="25400">
            <a:solidFill>
              <a:srgbClr val="00C8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554480" cy="2011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85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PERSISTENCIA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853"/>
                </a:solidFill>
              </a:rPr>
              <a:t>CSV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93392" y="868680"/>
            <a:ext cx="1554480" cy="3291840"/>
          </a:xfrm>
          <a:prstGeom prst="rect">
            <a:avLst/>
          </a:prstGeom>
          <a:solidFill>
            <a:srgbClr val="1C1C2E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868680"/>
            <a:ext cx="1554480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993392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PANTALLA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93392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C518"/>
                </a:solidFill>
              </a:rPr>
              <a:t>Matriz 3×3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12464" y="868680"/>
            <a:ext cx="1554480" cy="3291840"/>
          </a:xfrm>
          <a:prstGeom prst="rect">
            <a:avLst/>
          </a:prstGeom>
          <a:solidFill>
            <a:srgbClr val="1C1C2E"/>
          </a:solidFill>
          <a:ln w="25400">
            <a:solidFill>
              <a:srgbClr val="FF3D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12464" y="868680"/>
            <a:ext cx="1554480" cy="201168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3D5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712464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PREMIOS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12464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3D57"/>
                </a:solidFill>
              </a:rPr>
              <a:t>Lógica ganar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31536" y="868680"/>
            <a:ext cx="1554480" cy="3291840"/>
          </a:xfrm>
          <a:prstGeom prst="rect">
            <a:avLst/>
          </a:prstGeom>
          <a:solidFill>
            <a:srgbClr val="1C1C2E"/>
          </a:solidFill>
          <a:ln w="25400">
            <a:solidFill>
              <a:srgbClr val="7C4D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1536" y="868680"/>
            <a:ext cx="1554480" cy="20116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4D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431536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31536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4DFF"/>
                </a:solidFill>
              </a:rPr>
              <a:t>Menú + ASCII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50608" y="868680"/>
            <a:ext cx="1554480" cy="3291840"/>
          </a:xfrm>
          <a:prstGeom prst="rect">
            <a:avLst/>
          </a:prstGeom>
          <a:solidFill>
            <a:srgbClr val="1C1C2E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868680"/>
            <a:ext cx="1554480" cy="2011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C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7150608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MÓDULOS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50608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CD4"/>
                </a:solidFill>
              </a:rPr>
              <a:t>Funciones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20116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B0C0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47872" y="20116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B0C0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66944" y="20116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B0C0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86016" y="20116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B0C0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B0C0"/>
                </a:solidFill>
              </a:rPr>
              <a:t>Cada paso construye sobre el anterior — ¡la modularidad es clave!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0" cy="5029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00C85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PERSISTENCIA (CSV)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El sistema recuerda a sus jugadores entre sesiones: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B0B0C0"/>
                </a:solidFill>
              </a:rPr>
              <a:t>Pedir nombre del usuario al iniciar.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B0B0C0"/>
                </a:solidFill>
              </a:rPr>
              <a:t>Buscar en jugadores.csv si ya existe.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B0B0C0"/>
                </a:solidFill>
              </a:rPr>
              <a:t>Si existe → cargar saldo guardado.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B0B0C0"/>
                </a:solidFill>
              </a:rPr>
              <a:t>Si no existe → crear con $1000 inicial.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B0B0C0"/>
                </a:solidFill>
              </a:rPr>
              <a:t>Actualizar CSV en cada cambio de saldo.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B0B0C0"/>
                </a:solidFill>
              </a:rPr>
              <a:t>Guardar de forma segura al cerrar.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822960"/>
            <a:ext cx="384048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jugadores.csv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11887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nombre,saldo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Alice,2500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Bob,750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Carlos,3200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Lógica en Java: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cargarSaldo(nombre);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guardarSaldo(nombre, saldo);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PANTALLA &amp; LÓGICA DE PREMIOS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3931920"/>
          </a:xfrm>
          <a:prstGeom prst="rect">
            <a:avLst/>
          </a:prstGeom>
          <a:solidFill>
            <a:srgbClr val="1C1C2E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String[][] rodillos = new String[3][3]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024128" cy="804672"/>
          </a:xfrm>
          <a:prstGeom prst="rect">
            <a:avLst/>
          </a:prstGeom>
          <a:solidFill>
            <a:srgbClr val="2A1A0A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1024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3D5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673352" y="1298448"/>
            <a:ext cx="1024128" cy="804672"/>
          </a:xfrm>
          <a:prstGeom prst="rect">
            <a:avLst/>
          </a:prstGeom>
          <a:solidFill>
            <a:srgbClr val="2A1A0A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73352" y="1298448"/>
            <a:ext cx="1024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3D5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843784" y="1298448"/>
            <a:ext cx="1024128" cy="804672"/>
          </a:xfrm>
          <a:prstGeom prst="rect">
            <a:avLst/>
          </a:prstGeom>
          <a:solidFill>
            <a:srgbClr val="2A1A0A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43784" y="1298448"/>
            <a:ext cx="1024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3D5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648456" y="1298448"/>
            <a:ext cx="502920" cy="804672"/>
          </a:xfrm>
          <a:prstGeom prst="rect">
            <a:avLst/>
          </a:prstGeom>
          <a:solidFill>
            <a:srgbClr val="2A1A0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8456" y="129844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18"/>
                </a:solidFill>
              </a:rPr>
              <a:t>WIN!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58568"/>
            <a:ext cx="1024128" cy="804672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58568"/>
            <a:ext cx="1024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0B0C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X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673352" y="2258568"/>
            <a:ext cx="1024128" cy="804672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73352" y="2258568"/>
            <a:ext cx="1024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2843784" y="2258568"/>
            <a:ext cx="1024128" cy="804672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43784" y="2258568"/>
            <a:ext cx="1024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4D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@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502920" y="3218688"/>
            <a:ext cx="1024128" cy="804672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18688"/>
            <a:ext cx="1024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5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*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1673352" y="3218688"/>
            <a:ext cx="1024128" cy="804672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73352" y="3218688"/>
            <a:ext cx="1024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0B0C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#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2843784" y="3218688"/>
            <a:ext cx="1024128" cy="804672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43784" y="3218688"/>
            <a:ext cx="1024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0B0C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X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m[0][0] == m[0][1] == m[0][2] → ¡Fila ganadora!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804672"/>
            <a:ext cx="4343400" cy="3931920"/>
          </a:xfrm>
          <a:prstGeom prst="rect">
            <a:avLst/>
          </a:prstGeom>
          <a:solidFill>
            <a:srgbClr val="1C1C2E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8961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D57"/>
                </a:solidFill>
              </a:rPr>
              <a:t>TIPOS DE PREMIO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325880"/>
            <a:ext cx="548640" cy="5943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3258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━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03520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Líneas horizontales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1600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C0"/>
                </a:solidFill>
              </a:rPr>
              <a:t>3 iguales en fila 1, 2 ó 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130552"/>
            <a:ext cx="548640" cy="5943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13055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╲╱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03520" y="21305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Diagonales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2404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C0"/>
                </a:solidFill>
              </a:rPr>
              <a:t>Principal o secundaria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2935224"/>
            <a:ext cx="548640" cy="5943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93522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×2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03520" y="29352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Multiplicadores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03520" y="32095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C0"/>
                </a:solidFill>
              </a:rPr>
              <a:t>Múltiples líneas = premio 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739896"/>
            <a:ext cx="548640" cy="594360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73989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303520" y="37398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Símbolo "7"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03520" y="40142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C0"/>
                </a:solidFill>
              </a:rPr>
              <a:t>Mayor rareza → mayor pago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7C4D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UX &amp; MODULARIDAD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3931920"/>
          </a:xfrm>
          <a:prstGeom prst="rect">
            <a:avLst/>
          </a:prstGeom>
          <a:solidFill>
            <a:srgbClr val="1C1C2E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FF"/>
                </a:solidFill>
              </a:rPr>
              <a:t>PASO 4 — EXPERIENCIA DE USUARIO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73152" cy="64008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Menú Principal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</a:rPr>
              <a:t>1. Apostar  2. Saldo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</a:rPr>
              <a:t>3. Ranking  4. Salir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67128"/>
            <a:ext cx="73152" cy="64008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67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Giro Animado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441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</a:rPr>
              <a:t>Bucle imprime matrix aleatoria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</a:rPr>
              <a:t>+ limpieza de pantalla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35808"/>
            <a:ext cx="73152" cy="64008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ASCII Art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10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</a:rPr>
              <a:t>Decoración artística 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</a:rPr>
              <a:t>título y la máquina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904488"/>
            <a:ext cx="73152" cy="64008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904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Colores ANSI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178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</a:rPr>
              <a:t>Rojo, Verde, Amarillo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</a:rPr>
              <a:t>para realzar la 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804672"/>
            <a:ext cx="4297680" cy="3931920"/>
          </a:xfrm>
          <a:prstGeom prst="rect">
            <a:avLst/>
          </a:prstGeom>
          <a:solidFill>
            <a:srgbClr val="1C1C2E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8961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PASO 5 — FUNCIONES CLAVE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298448"/>
            <a:ext cx="3977640" cy="566928"/>
          </a:xfrm>
          <a:prstGeom prst="rect">
            <a:avLst/>
          </a:prstGeom>
          <a:solidFill>
            <a:srgbClr val="16162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335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cargarSaldo()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5727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C0"/>
                </a:solidFill>
              </a:rPr>
              <a:t>Lee CSV y retorna saldo del jugador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975104"/>
            <a:ext cx="3977640" cy="566928"/>
          </a:xfrm>
          <a:prstGeom prst="rect">
            <a:avLst/>
          </a:prstGeom>
          <a:solidFill>
            <a:srgbClr val="16162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guardarSaldo()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22494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C0"/>
                </a:solidFill>
              </a:rPr>
              <a:t>Actualiza el CSV con nuevo saldo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651760"/>
            <a:ext cx="3977640" cy="566928"/>
          </a:xfrm>
          <a:prstGeom prst="rect">
            <a:avLst/>
          </a:prstGeom>
          <a:solidFill>
            <a:srgbClr val="16162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88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dibujarPantalla()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2926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C0"/>
                </a:solidFill>
              </a:rPr>
              <a:t>Imprime la matriz 3×3 con estilo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328416"/>
            <a:ext cx="3977640" cy="566928"/>
          </a:xfrm>
          <a:prstGeom prst="rect">
            <a:avLst/>
          </a:prstGeom>
          <a:solidFill>
            <a:srgbClr val="16162A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364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calcularPremio()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6027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C0"/>
                </a:solidFill>
              </a:rPr>
              <a:t>Detecta patrones y retorna monto ganado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4005072"/>
            <a:ext cx="3977640" cy="566928"/>
          </a:xfrm>
          <a:prstGeom prst="rect">
            <a:avLst/>
          </a:prstGeom>
          <a:solidFill>
            <a:srgbClr val="16162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041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animarGiro()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42793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C0"/>
                </a:solidFill>
              </a:rPr>
              <a:t>Efecto visual de movimiento del giro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3D5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BONUS &amp; CRITERIOS DE EVALUACIÓN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2651760"/>
          </a:xfrm>
          <a:prstGeom prst="rect">
            <a:avLst/>
          </a:prstGeom>
          <a:solidFill>
            <a:srgbClr val="1C1C2E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🥚  EASTER EGG — EL AMULETO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+10% BONUS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0C0"/>
                </a:solidFill>
              </a:rPr>
              <a:t>Apuesta especial = 777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0C0"/>
                </a:solidFill>
              </a:rPr>
              <a:t>Nombre del jugador = LUCKY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C0"/>
                </a:solidFill>
              </a:rPr>
              <a:t>→ Activa minijuego de dados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C0"/>
                </a:solidFill>
              </a:rPr>
              <a:t>→ Duplica probabilidades por 3 turnos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04672"/>
            <a:ext cx="4297680" cy="2651760"/>
          </a:xfrm>
          <a:prstGeom prst="rect">
            <a:avLst/>
          </a:prstGeom>
          <a:solidFill>
            <a:srgbClr val="1C1C2E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87782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57"/>
                </a:solidFill>
              </a:rPr>
              <a:t>📊  CRITERIOS (100%)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3977640" cy="292608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298448"/>
            <a:ext cx="2227478" cy="292608"/>
          </a:xfrm>
          <a:prstGeom prst="rect">
            <a:avLst/>
          </a:prstGeom>
          <a:solidFill>
            <a:srgbClr val="00C853">
              <a:alpha val="4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9844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  Persistencia CSV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682496"/>
            <a:ext cx="3977640" cy="292608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682496"/>
            <a:ext cx="2227478" cy="292608"/>
          </a:xfrm>
          <a:prstGeom prst="rect">
            <a:avLst/>
          </a:prstGeom>
          <a:solidFill>
            <a:srgbClr val="F5C518">
              <a:alpha val="40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68249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  Lógica de Matrices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066544"/>
            <a:ext cx="3977640" cy="292608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066544"/>
            <a:ext cx="2227478" cy="292608"/>
          </a:xfrm>
          <a:prstGeom prst="rect">
            <a:avLst/>
          </a:prstGeom>
          <a:solidFill>
            <a:srgbClr val="7C4DFF">
              <a:alpha val="4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06654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  Modularidad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450592"/>
            <a:ext cx="3977640" cy="292608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450592"/>
            <a:ext cx="1670609" cy="292608"/>
          </a:xfrm>
          <a:prstGeom prst="rect">
            <a:avLst/>
          </a:prstGeom>
          <a:solidFill>
            <a:srgbClr val="00BCD4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4505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15%  Interfaz Visual (ANSI/ASCII)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834640"/>
            <a:ext cx="3977640" cy="292608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834640"/>
            <a:ext cx="1670609" cy="292608"/>
          </a:xfrm>
          <a:prstGeom prst="rect">
            <a:avLst/>
          </a:prstGeom>
          <a:solidFill>
            <a:srgbClr val="FF3D57">
              <a:alpha val="40000"/>
            </a:srgbClr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83464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15%  Sustentación técnica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218688"/>
            <a:ext cx="3977640" cy="292608"/>
          </a:xfrm>
          <a:prstGeom prst="rect">
            <a:avLst/>
          </a:prstGeom>
          <a:solidFill>
            <a:srgbClr val="16162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218688"/>
            <a:ext cx="1113739" cy="292608"/>
          </a:xfrm>
          <a:prstGeom prst="rect">
            <a:avLst/>
          </a:prstGeom>
          <a:solidFill>
            <a:srgbClr val="B0B0C0">
              <a:alpha val="40000"/>
            </a:srgbClr>
          </a:solidFill>
          <a:ln w="12700">
            <a:solidFill>
              <a:srgbClr val="B0B0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21868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10%  Git (commits equitativos)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8595360" cy="1097280"/>
          </a:xfrm>
          <a:prstGeom prst="rect">
            <a:avLst/>
          </a:prstGeom>
          <a:solidFill>
            <a:srgbClr val="1C1C2E"/>
          </a:solidFill>
          <a:ln w="12700">
            <a:solidFill>
              <a:srgbClr val="B0B0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📁  Repositorio: proyecto_final_arcade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4133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0"/>
                </a:solidFill>
              </a:rPr>
              <a:t>Commits constantes y equitativos  ·  Rotación obligatoria de puestos  ·  Grupos 2–3 personas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0" y="822960"/>
            <a:ext cx="1371600" cy="1371600"/>
          </a:xfrm>
          <a:prstGeom prst="rect">
            <a:avLst/>
          </a:prstGeom>
          <a:solidFill>
            <a:srgbClr val="2A1A0A"/>
          </a:solidFill>
          <a:ln w="381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822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3D5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749040" y="822960"/>
            <a:ext cx="1371600" cy="1371600"/>
          </a:xfrm>
          <a:prstGeom prst="rect">
            <a:avLst/>
          </a:prstGeom>
          <a:solidFill>
            <a:srgbClr val="2A1A0A"/>
          </a:solidFill>
          <a:ln w="381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822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3D5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394960" y="822960"/>
            <a:ext cx="1371600" cy="1371600"/>
          </a:xfrm>
          <a:prstGeom prst="rect">
            <a:avLst/>
          </a:prstGeom>
          <a:solidFill>
            <a:srgbClr val="2A1A0A"/>
          </a:solidFill>
          <a:ln w="381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822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3D5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1000" kern="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¡JACKPOT!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B0C0"/>
                </a:solidFill>
              </a:rPr>
              <a:t>Integren todo lo aprendido y construyan el mejor arcade del salón.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¡Demuestra tu creatividad y técnica! 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Lucky Arcade</dc:title>
  <dc:subject>PptxGenJS Presentation</dc:subject>
  <dc:creator>PptxGenJS</dc:creator>
  <cp:lastModifiedBy>PptxGenJS</cp:lastModifiedBy>
  <cp:revision>1</cp:revision>
  <dcterms:created xsi:type="dcterms:W3CDTF">2026-05-15T04:12:26Z</dcterms:created>
  <dcterms:modified xsi:type="dcterms:W3CDTF">2026-05-15T04:12:26Z</dcterms:modified>
</cp:coreProperties>
</file>